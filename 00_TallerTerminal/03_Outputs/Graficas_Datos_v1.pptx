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Población (hab)</c:v>
                </c:pt>
              </c:strCache>
            </c:strRef>
          </c:tx>
          <c:spPr>
            <a:solidFill>
              <a:srgbClr val="6B8FA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Tepotzotlán</c:v>
                </c:pt>
                <c:pt idx="1">
                  <c:v>Tizayuca</c:v>
                </c:pt>
                <c:pt idx="2">
                  <c:v>Cuautitlán</c:v>
                </c:pt>
                <c:pt idx="3">
                  <c:v>Ixmiquilpan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103696</c:v>
                </c:pt>
                <c:pt idx="1">
                  <c:v>168302</c:v>
                </c:pt>
                <c:pt idx="2">
                  <c:v>178847</c:v>
                </c:pt>
                <c:pt idx="3">
                  <c:v>98654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AF-446B-A3F3-7DC89653A5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Densidad (hab/km²)</c:v>
                </c:pt>
              </c:strCache>
            </c:strRef>
          </c:tx>
          <c:spPr>
            <a:solidFill>
              <a:srgbClr val="4A7C5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Tepotzotlán</c:v>
                </c:pt>
                <c:pt idx="1">
                  <c:v>Tizayuca</c:v>
                </c:pt>
                <c:pt idx="2">
                  <c:v>Cuautitlán</c:v>
                </c:pt>
                <c:pt idx="3">
                  <c:v>Ixmiquilpan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496</c:v>
                </c:pt>
                <c:pt idx="1">
                  <c:v>2191</c:v>
                </c:pt>
                <c:pt idx="2">
                  <c:v>0</c:v>
                </c:pt>
                <c:pt idx="3">
                  <c:v>202.74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AF-446B-A3F3-7DC89653A5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Internet %</c:v>
                </c:pt>
              </c:strCache>
            </c:strRef>
          </c:tx>
          <c:spPr>
            <a:solidFill>
              <a:srgbClr val="D4441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9F6-4AE2-ABE5-05DC152387E6}"/>
              </c:ext>
            </c:extLst>
          </c:dPt>
          <c:dPt>
            <c:idx val="1"/>
            <c:invertIfNegative val="0"/>
            <c:bubble3D val="0"/>
            <c:spPr>
              <a:solidFill>
                <a:srgbClr val="6B8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F6-4AE2-ABE5-05DC152387E6}"/>
              </c:ext>
            </c:extLst>
          </c:dPt>
          <c:dPt>
            <c:idx val="2"/>
            <c:invertIfNegative val="0"/>
            <c:bubble3D val="0"/>
            <c:spPr>
              <a:solidFill>
                <a:srgbClr val="C8A9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9F6-4AE2-ABE5-05DC152387E6}"/>
              </c:ext>
            </c:extLst>
          </c:dPt>
          <c:dPt>
            <c:idx val="3"/>
            <c:invertIfNegative val="0"/>
            <c:bubble3D val="0"/>
            <c:spPr>
              <a:solidFill>
                <a:srgbClr val="4A7C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9F6-4AE2-ABE5-05DC152387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Cuautitlán</c:v>
                </c:pt>
                <c:pt idx="1">
                  <c:v>Tizayuca</c:v>
                </c:pt>
                <c:pt idx="2">
                  <c:v>Tepotzotlán</c:v>
                </c:pt>
                <c:pt idx="3">
                  <c:v>Ixmiquilpan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72.8</c:v>
                </c:pt>
                <c:pt idx="1">
                  <c:v>54.21</c:v>
                </c:pt>
                <c:pt idx="2">
                  <c:v>48</c:v>
                </c:pt>
                <c:pt idx="3">
                  <c:v>33.07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9F6-4AE2-ABE5-05DC152387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Pobreza %</c:v>
                </c:pt>
              </c:strCache>
            </c:strRef>
          </c:tx>
          <c:spPr>
            <a:solidFill>
              <a:srgbClr val="4A7C5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Ixmiquilpan</c:v>
                </c:pt>
                <c:pt idx="1">
                  <c:v>Tepotzotlán</c:v>
                </c:pt>
                <c:pt idx="2">
                  <c:v>Tizayuca</c:v>
                </c:pt>
                <c:pt idx="3">
                  <c:v>Cuautitlán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50.24</c:v>
                </c:pt>
                <c:pt idx="1">
                  <c:v>46.35</c:v>
                </c:pt>
                <c:pt idx="2">
                  <c:v>35.89</c:v>
                </c:pt>
                <c:pt idx="3">
                  <c:v>34.200000000000003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9D-44B0-A173-368A144BEE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Rezago Educativo %</c:v>
                </c:pt>
              </c:strCache>
            </c:strRef>
          </c:tx>
          <c:spPr>
            <a:solidFill>
              <a:srgbClr val="C8A9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Ixmiquilpan</c:v>
                </c:pt>
                <c:pt idx="1">
                  <c:v>Tepotzotlán</c:v>
                </c:pt>
                <c:pt idx="2">
                  <c:v>Tizayuca</c:v>
                </c:pt>
                <c:pt idx="3">
                  <c:v>Cuautitlán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17</c:v>
                </c:pt>
                <c:pt idx="2">
                  <c:v>10.01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9D-44B0-A173-368A144BEE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Agua Potable %</c:v>
                </c:pt>
              </c:strCache>
            </c:strRef>
          </c:tx>
          <c:spPr>
            <a:solidFill>
              <a:srgbClr val="C8A9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Tepotzotlán</c:v>
                </c:pt>
                <c:pt idx="1">
                  <c:v>Tizayuca</c:v>
                </c:pt>
                <c:pt idx="2">
                  <c:v>Cuautitlán</c:v>
                </c:pt>
                <c:pt idx="3">
                  <c:v>Ixmiquilpan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95.1</c:v>
                </c:pt>
                <c:pt idx="1">
                  <c:v>90.8</c:v>
                </c:pt>
                <c:pt idx="2">
                  <c:v>0</c:v>
                </c:pt>
                <c:pt idx="3">
                  <c:v>97.92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9D-4B09-A265-845B58FCB7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Drenaje %</c:v>
                </c:pt>
              </c:strCache>
            </c:strRef>
          </c:tx>
          <c:spPr>
            <a:solidFill>
              <a:srgbClr val="6B8FA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Tepotzotlán</c:v>
                </c:pt>
                <c:pt idx="1">
                  <c:v>Tizayuca</c:v>
                </c:pt>
                <c:pt idx="2">
                  <c:v>Cuautitlán</c:v>
                </c:pt>
                <c:pt idx="3">
                  <c:v>Ixmiquilpan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97.9</c:v>
                </c:pt>
                <c:pt idx="1">
                  <c:v>99.5</c:v>
                </c:pt>
                <c:pt idx="2">
                  <c:v>0</c:v>
                </c:pt>
                <c:pt idx="3">
                  <c:v>96.95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9D-4B09-A265-845B58FCB7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Electricidad %</c:v>
                </c:pt>
              </c:strCache>
            </c:strRef>
          </c:tx>
          <c:spPr>
            <a:solidFill>
              <a:srgbClr val="4A7C5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Tepotzotlán</c:v>
                </c:pt>
                <c:pt idx="1">
                  <c:v>Tizayuca</c:v>
                </c:pt>
                <c:pt idx="2">
                  <c:v>Cuautitlán</c:v>
                </c:pt>
                <c:pt idx="3">
                  <c:v>Ixmiquilpan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99.3</c:v>
                </c:pt>
                <c:pt idx="1">
                  <c:v>99.7</c:v>
                </c:pt>
                <c:pt idx="2">
                  <c:v>0</c:v>
                </c:pt>
                <c:pt idx="3">
                  <c:v>99.14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9D-4B09-A265-845B58FCB7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206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914400" y="914400"/>
          <a:ext cx="7315200" cy="3600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 0"/>
          <p:cNvSpPr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* Densidad Cuautitlán: [sin dato]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914400" y="914400"/>
          <a:ext cx="7315200" cy="3600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914400" y="914400"/>
          <a:ext cx="7315200" cy="3600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914400" y="914400"/>
          <a:ext cx="7315200" cy="3600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 0"/>
          <p:cNvSpPr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* Cuautitlán: [PEND.] en todos los servicios básicos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194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A96E"/>
                          </a:solidFill>
                        </a:rPr>
                        <a:t>Indicador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A96E"/>
                          </a:solidFill>
                        </a:rPr>
                        <a:t>Tepotzotlán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A96E"/>
                          </a:solidFill>
                        </a:rPr>
                        <a:t>Tizayuca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A96E"/>
                          </a:solidFill>
                        </a:rPr>
                        <a:t>Cuautitlán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A96E"/>
                          </a:solidFill>
                        </a:rPr>
                        <a:t>Ixmiquilpan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poblacion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103696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168302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178847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98654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superficie_km2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208.9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76.81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[PEND.]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486.6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densidad_hab_km2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496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2191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[PEND.]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202.74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internet_pct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48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54.21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72.8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33.07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pobreza_pct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46.35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35.89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34.2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50.24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rezago_educativo_pct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10.01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agua_pct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95.1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90.8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[PEND.]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97.92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Tabla Comparativa de Indicadores Base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91</Words>
  <Application>Microsoft Office PowerPoint</Application>
  <PresentationFormat>Presentación en pantalla (16:9)</PresentationFormat>
  <Paragraphs>48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guillermo jhoel hernandez gomez</cp:lastModifiedBy>
  <cp:revision>1</cp:revision>
  <dcterms:created xsi:type="dcterms:W3CDTF">2026-03-16T01:29:24Z</dcterms:created>
  <dcterms:modified xsi:type="dcterms:W3CDTF">2026-03-16T03:31:07Z</dcterms:modified>
</cp:coreProperties>
</file>
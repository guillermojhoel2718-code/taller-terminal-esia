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22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0C4E8"/>
                </a:solidFill>
              </a:rPr>
              <a:t>TALLER TERMINAL DE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TIZAYUCA, HIDALGO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0C4E8"/>
                </a:solidFill>
              </a:rPr>
              <a:t>Justificacion de sitio para proyecto de Salud o Educacion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931920"/>
            <a:ext cx="5788152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C4E8"/>
                </a:solidFill>
              </a:rPr>
              <a:t>Analisis comparativo con Ixmiquilpan, Hgo.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18096"/>
                </a:solidFill>
              </a:rPr>
              <a:t>Fuentes: PMD Tizayuca 2024-2027 | PMDU 2024 | SIGEH 2025 | INEGI 2020 | SEP 2024-2025 | IMSS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18096"/>
                </a:solidFill>
              </a:rP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CONTEXTO URBANO Y PLANEACION MUNICIPAL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C4E8"/>
                </a:solidFill>
              </a:rPr>
              <a:t>PMD Tizayuca 2024-2027 | PMDU Tizayuca 2024 | PMD Ixmiquilpan 2024-2027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94960" cy="53035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94960" cy="4114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TIZAYUCA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✓  4to municipio mas poblado de Hidalgo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✓  168,302 hab. (INEGI 2022)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✓  Tasa de crecimiento: 5.8% anual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✓  Integrante de la ZMVM (Zona Metro. Valle de Mexico)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✓  PMD 2024-2027 vigente con vision de nodo metropolitano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✓  PMDU 2024: transicion de ciudad dormitorio a nodo de actividad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✓  Eje AIFA-Tizayuca como corredor de desarrollo regional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✓  5 parques industriales activos: CITI, Huitzila-Tepojaco, La Candelaria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577840" cy="5303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577840" cy="411480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1556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IXMIQUILPAN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■  98,654 hab. (INEGI 2020)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■  Cabecera del Valle del Mezquital, Hgo.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■  Crecimiento del 14.2% en 10 anos (2010-2020)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■  PMD 2024-2027: enfoque en reduccion de pobreza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■  52.2% de la poblacion en condicion de pobreza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■  Municipio de alta intensidad migratoria (13.91%)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■  Economia principalmente primaria y terciaria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■  Sin integracion metropolitana formal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46520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</a:rPr>
              <a:t>Programas: tizayuca.gob.mx/planeacion  |  geoixmi.com/documentos/Plan-Municipal-Ixmiquilpan-2024.pdf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DIAGNOSTICO DEMOGRAFICO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C4E8"/>
                </a:solidFill>
              </a:rPr>
              <a:t>Fuentes: INEGI Censo 2020 | SIGEH Hidalgo 2025 | PMD Tizayuca 2024-2027 | buzos.com.mx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651760" cy="13716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168,302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Habitantes Tizayuca
(INEGI 2022)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651760" cy="13716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143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Crecimiento anual
(Mayor de Hidalgo)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97280"/>
            <a:ext cx="2651760" cy="1371600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143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98,654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Habitantes Ixmiquilpan
(INEGI 2020)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097280"/>
            <a:ext cx="2651760" cy="13716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1430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+200%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9202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Crecimiento Tizayuca
2005-2020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651760"/>
            <a:ext cx="5394960" cy="356616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651760"/>
            <a:ext cx="5394960" cy="34747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6700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TIZAYUCA — Piramide Poblacional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063240"/>
            <a:ext cx="5212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Poblacion 0-14 anos:  35.89%  (82,047 hab.)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Poblacion 15-64 anos: 56.7%  (mayoria activa)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Pob. 10-19 anos:  30,630  (grupo mas robusto)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Pob. 0-24 en edad escolar:  71,360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PEA total:  82,520 personas ocupadas (62.3%)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Trabajadores sector secundario:  25.9%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Produccion bruta total:  $36,434 millones MXN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Intensidad migratoria:  MUY BAJA (2.01%)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651760"/>
            <a:ext cx="5577840" cy="35661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651760"/>
            <a:ext cx="5577840" cy="347472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700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IXMIQUILPAN — Piramide Poblacional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Poblacion 0-14 anos:  26.89%  (26,528 hab.)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Pob. juvenil 15-24 anos:  24.48%  (24,155 hab.)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Hablantes lengua indigena:  34,500  (mayoria)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Poblacion en pobreza:  51,508  (52.2% del total)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Poblacion en pobreza extrema:  15.27%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PEA total:  53,552 personas ocupadas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Produccion bruta total:  $3,857 millones MXN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Intensidad migratoria:  ALTA (13.91% remesas)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18096"/>
                </a:solidFill>
              </a:rPr>
              <a:t>URL: sigeh.hidalgo.gob.mx  |  economia.gob.mx/datamexico/es/profile/geo/ixmiquilpan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7B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DEFICIT DE INFRAESTRUCTURA DE SALUD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EB2B2"/>
                </a:solidFill>
              </a:rPr>
              <a:t>Fuentes: DIF Tizayuca 2024 | El Universal Hidalgo 17/03/2026 | SIGEH Ixmiquilpan 2025 | IMSS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1640312" cy="658368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⚠  GOBIERNO FEDERAL RECONOCE DEFICIT HOSPITALARIO EN TIZAYUCA — Hospital IMSS en proceso (Claudia Sheinbaum, 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5394960" cy="48463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5394960" cy="36576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5623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TIZAYUCA — Situacion Critica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67712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CERO hospitales generales IMSS en el municipio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49% de poblacion SIN seguridad social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Solo 45% con acceso IMSS (DIF Tizayuca 2024)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168,302 hab. sin Hospital General propio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Atencion medica limitada a clinicas de primer nivel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✔  Predio propuesto para Hospital IMSS (2025)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✔  Expediente inmobiliario en proceso ante IMSS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✔  PMD 2024-2027 incluye eje de salud como prioridad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✔  Secretaria de Salud Hidalgo con presupuesto asignado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577840" cy="4846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577840" cy="365760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623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IXMIQUILPAN — Infraestructura Existente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67712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24 unidades medicas activas (SIGEH 2025)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239 medicos registrados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1 Hospital General Regional en operacion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LIMITANTES: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52.2% de poblacion en pobreza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Demanda efectiva reducida por bajo ingreso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Alta emigracion laboral (13.91% remesas)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Rezago social limita inversion en nuevas obras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PMD 2024-2027 no prioriza nueva infraestructura hospitalaria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739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URL: eluniversalhidalgo.com.mx  |  diftizayuca.gob.mx  |  sigeh.hidalgo.gob.mx/pags/info_mun/municipal/13030-Ixmiquilpan.pdf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DEFICIT EDUCATIVO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C4E8"/>
                </a:solidFill>
              </a:rPr>
              <a:t>Fuentes: Prog. Presupuestario Educacion Tizayuca 2024 | Informe Consistencia 2024-2025 | SIGEH Ixmiquilpan 2025 | SEP 2024-2025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651760" cy="132588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65.6%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Cobertura educativa
actual Tizayuca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51560"/>
            <a:ext cx="2651760" cy="132588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78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34.4%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Poblacion escolar
SIN cobertura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51560"/>
            <a:ext cx="2651760" cy="132588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5+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Escuelas urgentes
(PMD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051560"/>
            <a:ext cx="2651760" cy="132588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078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24,468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828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Jovenes sin acceso
a media superior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5394960" cy="41148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5394960" cy="365760"/>
          </a:xfrm>
          <a:prstGeom prst="rect">
            <a:avLst/>
          </a:prstGeom>
          <a:solidFill>
            <a:srgbClr val="1A5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420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TIZAYUCA — Crisis Educativa Documentada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944368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Cobertura: 65.6% (deficit del 34.4%)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Minimo 5 escuelas nuevas requeridas (PMD 2024)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   3 preparatorias + 2 secundarias urgentes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71,360 jovenes en edad escolar (0-24 anos)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Abandono escolar documentado: 410 alumnos/ciclo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Centros de formacion tecnica insuficientes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✖  Saturacion en escuelas centricas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✔  PMD 2024-2027 contempla apertura de planteles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✔  Programa Escuela Solidaria y Abierta (ESyA)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514600"/>
            <a:ext cx="5577840" cy="4114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514600"/>
            <a:ext cx="5577840" cy="365760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420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</a:rPr>
              <a:t>IXMIQUILPAN — Rezago de Calidad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44368"/>
            <a:ext cx="5303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301 escuelas existentes (SIGEH 2025)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34,829 alumnos matriculados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1,880 docentes registrados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15.27% con rezago educativo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34,500 hab. hablantes lengua indigena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   (requieren educacion bilingue especializada)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Problema: CALIDAD, no cantidad de escuelas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PMD 2024-2027 no prioriza nuevas instalaciones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FFFFFF"/>
                </a:solidFill>
              </a:rPr>
              <a:t>■  Sin demanda masiva de nueva infraestructura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URL: tizayuca.gob.mx/hv/2024/evaluacion/informe_presupuestario/EDUCACION.pdf  |  sigeh.hidalgo.gob.mx  |  planeacion.sep.gob.mx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4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ECONOMIA, EMPLEO Y PROGRAMAS DE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C4E8"/>
                </a:solidFill>
              </a:rPr>
              <a:t>Fuentes: Sec. Desarrollo Economico Tizayuca 2024 | SIGEH 2025 | PMD 2024-2027 | jooble.org 2025 | indeed.com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2651760" cy="13258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$36,434M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Produccion bruta
Tizayuca (MXN)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51560"/>
            <a:ext cx="2651760" cy="1325880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078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$3,857M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Produccion bruta
Ixmiquilpan (MXN)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51560"/>
            <a:ext cx="2651760" cy="132588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078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82,520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Personas ocupadas
Tizayuca (62.3%)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051560"/>
            <a:ext cx="2651760" cy="132588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07899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8288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Parques industriales
activos Tizayuca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514600"/>
            <a:ext cx="7315200" cy="41605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7315200" cy="36576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42032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PROGRAMAS DEL PMD 2024-2027 TIZAYUCA CON URL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944368"/>
            <a:ext cx="7132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1. Programa Presupuestario de Desarrollo Economico 2024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   tizayuca.gob.mx/hv/2024/evaluacion/informe_presupuestario/SECRETARIA_DE_DESARROLLO_ECONOMICO.pdf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2. Programa Presupuestario de Educacion 2024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   tizayuca.gob.mx/hv/2024/evaluacion/informe_presupuestario/EDUCACION.pdf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3. Informe Final Consistencia Educacion 2024-2025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   tizayuca.gob.mx/Planeacion-Tizayuca/Docs/Informe_Final_Consistencia_y_Resultados_Educacion.pdf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4. DIF Tizayuca - Programa Medico y Rehabilitacion 2024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FFFFFF"/>
                </a:solidFill>
              </a:rPr>
              <a:t>   diftizayuca.gob.mx/evaluacion/programas_presupuestarios/2024/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514600"/>
            <a:ext cx="3931920" cy="4160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2514600"/>
            <a:ext cx="3931920" cy="365760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54203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IXMIQUILPAN
PROGRAMAS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944368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PMD Ixmiquilpan 2024-2027: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geoixmi.com/documentos/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Plan Municipal de Desarrollo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Ixmiquilpan 2024-2027.pdf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SIGEH Ixmiquilpan: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sigeh.hidalgo.gob.mx/pags/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info_mun/municipal/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13030-Ixmiquilpan.pdf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INEGI DataMexico: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economia.gob.mx/datamexico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</a:rPr>
              <a:t>/es/profile/geo/ixmiquilpan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URL: tizayuca.gob.mx  |  sigeh.hidalgo.gob.mx  |  inegi.org.mx/app/areasgeograficas?ag=13069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TABLA COMPARATIVA: TIZAYUCA VS IXMIQUILPAN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C4E8"/>
                </a:solidFill>
              </a:rPr>
              <a:t>Datos 2024-2025. Fuentes oficiales: INEGI, SIGEH, PMD, PMDU, SEP, IMSS, DIF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4114800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INDICADOR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05840"/>
            <a:ext cx="3840480" cy="384048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051560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TIZAYUCA, HGO.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005840"/>
            <a:ext cx="3657600" cy="384048"/>
          </a:xfrm>
          <a:prstGeom prst="rect">
            <a:avLst/>
          </a:prstGeom>
          <a:solidFill>
            <a:srgbClr val="8B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05156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IXMIQUILPAN, HGO.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389888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42646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Poblacion (2020-2022)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89888"/>
            <a:ext cx="384048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426464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6749"/>
                </a:solidFill>
              </a:rPr>
              <a:t>168,302 hab. (2022)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389888"/>
            <a:ext cx="365760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2646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2C2C"/>
                </a:solidFill>
              </a:rPr>
              <a:t>98,654 hab. (2020)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1773936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181051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Tasa de crecimiento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773936"/>
            <a:ext cx="384048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810512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6749"/>
                </a:solidFill>
              </a:rPr>
              <a:t>5.8% anual (MAYOR de Hidalgo)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73936"/>
            <a:ext cx="365760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81051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2C2C"/>
                </a:solidFill>
              </a:rPr>
              <a:t>14.2% en 10 anos (lento)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157984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219456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Hospital General IMSS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157984"/>
            <a:ext cx="384048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194560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C5E"/>
                </a:solidFill>
              </a:rPr>
              <a:t>CERO (deficit reconocido fed.)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157984"/>
            <a:ext cx="365760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1945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C5E"/>
                </a:solidFill>
              </a:rPr>
              <a:t>1 Hospital en operacion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542032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257860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Deficit hospitalario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2542032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57860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C5E"/>
                </a:solidFill>
              </a:rPr>
              <a:t>49% sin seguridad social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2542032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257860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C5E"/>
                </a:solidFill>
              </a:rPr>
              <a:t>24 unidades medicas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2926080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296265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Cobertura educativa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2926080"/>
            <a:ext cx="384048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2962656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C5E"/>
                </a:solidFill>
              </a:rPr>
              <a:t>65.6% (deficit 34.4%)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2926080"/>
            <a:ext cx="3657600" cy="384048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96265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C5E"/>
                </a:solidFill>
              </a:rPr>
              <a:t>~75% estimado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3310128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334670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Escuelas urgentes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310128"/>
            <a:ext cx="3840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3346704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C5E"/>
                </a:solidFill>
              </a:rPr>
              <a:t>5+ segun PMD 2024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3310128"/>
            <a:ext cx="3657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34670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C5E"/>
                </a:solidFill>
              </a:rPr>
              <a:t>No cuantificado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3694176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73075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Produccion bruta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3694176"/>
            <a:ext cx="384048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3730752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6749"/>
                </a:solidFill>
              </a:rPr>
              <a:t>$36,434 millones MXN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3694176"/>
            <a:ext cx="365760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66760" y="373075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2C2C"/>
                </a:solidFill>
              </a:rPr>
              <a:t>$3,857 millones MXN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4078224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28600" y="4114800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Intensidad migratoria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0" y="4078224"/>
            <a:ext cx="384048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34840" y="4114800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6749"/>
                </a:solidFill>
              </a:rPr>
              <a:t>MUY BAJA (2.01%)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21040" y="4078224"/>
            <a:ext cx="365760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6760" y="411480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2C2C"/>
                </a:solidFill>
              </a:rPr>
              <a:t>ALTA (13.91% remesas)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2880" y="4462272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8600" y="449884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Poblacion en pobreza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4462272"/>
            <a:ext cx="384048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4840" y="4498848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6749"/>
                </a:solidFill>
              </a:rPr>
              <a:t>~22% (CONEVAL 2020)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321040" y="4462272"/>
            <a:ext cx="365760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66760" y="449884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2C2C"/>
                </a:solidFill>
              </a:rPr>
              <a:t>52.2% en pobreza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" y="4846320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8600" y="4882896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Viabilidad arq. proyecto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0" y="4846320"/>
            <a:ext cx="384048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4882896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6749"/>
                </a:solidFill>
              </a:rPr>
              <a:t>ALTA: deficit+crecimiento+PMD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40" y="4846320"/>
            <a:ext cx="365760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60" y="488289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2C2C"/>
                </a:solidFill>
              </a:rPr>
              <a:t>MEDIA: rezago social alto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880" y="5230368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5266944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PMD vigente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389120" y="5230368"/>
            <a:ext cx="384048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34840" y="5266944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6749"/>
                </a:solidFill>
              </a:rPr>
              <a:t>PMD 2024-2027 + PMDU 2024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5230368"/>
            <a:ext cx="365760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66760" y="526694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2C2C"/>
                </a:solidFill>
              </a:rPr>
              <a:t>PMD 2024-2027 (modesto)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5614416"/>
            <a:ext cx="4114800" cy="384048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28600" y="5650992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A3C5E"/>
                </a:solidFill>
              </a:rPr>
              <a:t>Respaldo federal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89120" y="5614416"/>
            <a:ext cx="3840480" cy="384048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34840" y="5650992"/>
            <a:ext cx="3749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6749"/>
                </a:solidFill>
              </a:rPr>
              <a:t>Hospital IMSS en proceso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21040" y="5614416"/>
            <a:ext cx="3657600" cy="384048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66760" y="565099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2C2C"/>
                </a:solidFill>
              </a:rPr>
              <a:t>Sin proyectos federales nuevos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6473952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URL: tizayuca.gob.mx/planeacion  |  sigeh.hidalgo.gob.mx  |  geoixmi.com/documentos/Plan-Municipal-Ixmiquilpan-2024.pdf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CONCLUSION: 5 ARGUMENTOS PARA ELEGIR TIZAYUCA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C4E8"/>
                </a:solidFill>
              </a:rPr>
              <a:t>Sustentado en: PMD 2024-2027 | PMDU 2024 | Prog. Presupuestarios municipales | SIGEH 2025 | SEP | IMSS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05840"/>
            <a:ext cx="502920" cy="100584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1430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005840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005840"/>
            <a:ext cx="11247120" cy="34747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424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A9F"/>
                </a:solidFill>
              </a:rPr>
              <a:t>PRESION DEMOGRAFICA SIN PRECEDENTE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371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D3A48"/>
                </a:solidFill>
              </a:rPr>
              <a:t>Tizayuca crece al 5.8% anual: la tasa mas alta de Hidalgo. Paso de 56,000 a 168,302 hab. en 15 anos (+200%).
Cada ano llegan miles de familias que demandan servicios de salud y educacion.
Fuente: PMD Tizayuca 2024-2027, buzos.com.mx 2026, SIGEH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121408"/>
            <a:ext cx="502920" cy="100584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2258568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2121408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121408"/>
            <a:ext cx="11247120" cy="34747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579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6749"/>
                </a:solidFill>
              </a:rPr>
              <a:t>DEFICIT EDUCATIVO DOCUMENTADO OFICIALMENTE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871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D3A48"/>
                </a:solidFill>
              </a:rPr>
              <a:t>Cobertura escolar del 65.6%: faltan minimo 5 escuelas (3 preparatorias + 2 secundarias) segun PMD 2024.
24,468 jovenes sin acceso a educacion media superior. 410 alumnos abandonaron en un solo ciclo.
Fuente: Prog. Presupuestario Educacion Tizayuca 2024, tizayuca.gob.mx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236976"/>
            <a:ext cx="502920" cy="10058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374136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3236976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3236976"/>
            <a:ext cx="11247120" cy="34747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2735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3030"/>
                </a:solidFill>
              </a:rPr>
              <a:t>DEFICIT HOSPITALARIO RECONOCIDO POR EL GOBIERNO FEDERAL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02736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D3A48"/>
                </a:solidFill>
              </a:rPr>
              <a:t>La presidenta Sheinbaum reconocio el deficit hospitalario en la zona metropolitana de Tizayuca (2025).
El IMSS tiene predio propuesto para Hospital General. 49% de poblacion sin seguridad social.
Fuente: El Universal Hidalgo 17/03/2026, DIF Tizayuca 2024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352544"/>
            <a:ext cx="502920" cy="10058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" y="4489704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4352544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" y="4352544"/>
            <a:ext cx="11247120" cy="34747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9E2E"/>
                </a:solidFill>
              </a:rPr>
              <a:t>MOTOR ECONOMICO: AIFA + 5 PARQUES INDUSTRIALES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71830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D3A48"/>
                </a:solidFill>
              </a:rPr>
              <a:t>Produccion bruta $36,434 millones MXN (vs $3,857M Ixmiquilpan: 9.4x mas). Corredor AIFA a 30 km.
Intensidad migratoria MUY BAJA (2.01%): la poblacion se queda y consume localmente.
Fuente: SIGEH Hidalgo 2025, Sec. Desarrollo Economico Tizayuca 2024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468112"/>
            <a:ext cx="502920" cy="1005840"/>
          </a:xfrm>
          <a:prstGeom prst="rect">
            <a:avLst/>
          </a:prstGeom>
          <a:solidFill>
            <a:srgbClr val="60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" y="560527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468112"/>
            <a:ext cx="112471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3232" y="5468112"/>
            <a:ext cx="11247120" cy="347472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046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05A9D"/>
                </a:solidFill>
              </a:rPr>
              <a:t>VIABILIDAD INSTITUCIONAL: PMD Y PMDU VIGENTES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8338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D3A48"/>
                </a:solidFill>
              </a:rPr>
              <a:t>PMD 2024-2027 y PMDU 2024 establecen proyectos concretos de salud y educacion. Acceso directo
a programas federales y metropolitanos. Ixmiquilpan tiene 52.2% en pobreza limitando la viabilidad.
Fuente: tizayuca.gob.mx/planeacion, SEDATU, SEDESOL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10528"/>
            <a:ext cx="11704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</a:rPr>
              <a:t>URL programas: tizayuca.gob.mx/planeacion | tizayuca.gob.mx/hv/2024/evaluacion | diftizayuca.gob.mx | sigeh.hidalgo.gob.mx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FUENTES Y REFERENCIAS OFICIALES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5852160" cy="5669280"/>
          </a:xfrm>
          <a:prstGeom prst="rect">
            <a:avLst/>
          </a:prstGeom>
          <a:solidFill>
            <a:srgbClr val="22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57784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TIZAYUCA: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1. PMD Tizayuca 2024-2027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tizayuca.gob.mx/planeacion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2. PMDU Tizayuca 2024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tizayuca.gob.mx/planeacion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3. Prog. Ppto. Educacion 2024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tizayuca.gob.mx/hv/2024/evaluacion/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informe_presupuestario/EDUCACION.pdf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4. Prog. Ppto. Desarrollo Economico 2024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tizayuca.gob.mx/hv/2024/evaluacion/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informe_presupuestario/SECRETARIA_DE_DESARROLLO_ECONOMICO.pdf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5. Informe Final Consistencia Educacion 2024-2025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tizayuca.gob.mx/Planeacion-Tizayuca/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Docs/Informe_Final_Consistencia_y_Resultados_Educacion.pdf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6. DIF Tizayuca Prog. Medico 2024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diftizayuca.gob.mx/evaluacion/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programas_presupuestarios/2024/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7. Indicadores de Resultados 2025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tizayuca.gob.mx/hv/2025/arm_con/2025/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INFORMACION_PROGRAMATICA/Indicadores-de-resultados.pdf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05840"/>
            <a:ext cx="5760720" cy="5669280"/>
          </a:xfrm>
          <a:prstGeom prst="rect">
            <a:avLst/>
          </a:prstGeom>
          <a:solidFill>
            <a:srgbClr val="22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62356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IXMIQUILPAN: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8. PMD Ixmiquilpan 2024-2027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geoixmi.com/documentos/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Plan Municipal de Desarrollo Ixmiquilpan 2024-2027.pdf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9. SIGEH Ixmiquilpan 2025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sigeh.hidalgo.gob.mx/pags/info_mun/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municipal/13030-Ixmiquilpan.pdf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10. DataMexico - Ixmiquilpan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 economia.gob.mx/datamexico/es/profile/geo/ixmiquilpan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ESTADISTICAS NACIONALES: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11. INEGI - Tizayuca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 inegi.org.mx/app/areasgeograficas?ag=13069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12. SIGEH - Tizayuca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 sigeh.hidalgo.gob.mx/pags/info_reg/municipal/13069-Tizayuca.pdf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13. SEP Estadistica Hidalgo 2024-2025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 planeacion.sep.gob.mx/Doc/estadistica_e_indicadores/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 EstIndEntFed2024/13_HGO.pdf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14. El Universal Hidalgo (17/03/2026)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FFFFFF"/>
                </a:solidFill>
              </a:rPr>
              <a:t>    eluniversalhidalgo.com.mx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